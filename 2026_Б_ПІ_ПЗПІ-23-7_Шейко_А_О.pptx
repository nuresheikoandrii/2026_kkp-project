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72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5423" autoAdjust="0"/>
  </p:normalViewPr>
  <p:slideViewPr>
    <p:cSldViewPr snapToGrid="0">
      <p:cViewPr varScale="1">
        <p:scale>
          <a:sx n="87" d="100"/>
          <a:sy n="87" d="100"/>
        </p:scale>
        <p:origin x="9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E68EB2D-D8A8-D577-2D32-47C5E3F2A422}"/>
              </a:ext>
            </a:extLst>
          </p:cNvPr>
          <p:cNvSpPr txBox="1"/>
          <p:nvPr/>
        </p:nvSpPr>
        <p:spPr>
          <a:xfrm>
            <a:off x="3916139" y="1193325"/>
            <a:ext cx="437283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 система для автоматизації роботи салонів краси. Модуль AI -аналізу зовнішності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365CCA-1E13-6A5A-7D7C-99E7202710C0}"/>
              </a:ext>
            </a:extLst>
          </p:cNvPr>
          <p:cNvSpPr txBox="1"/>
          <p:nvPr/>
        </p:nvSpPr>
        <p:spPr>
          <a:xfrm>
            <a:off x="3368988" y="4525903"/>
            <a:ext cx="54697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Ст.гр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ПЗПІ-23-7 Ш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ейко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Андрій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Олександрович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Керівник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доц. кафедри ПІ Ірина ЛЕЩИНСЬКА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червня 2026 року</a:t>
            </a:r>
          </a:p>
        </p:txBody>
      </p:sp>
    </p:spTree>
    <p:extLst>
      <p:ext uri="{BB962C8B-B14F-4D97-AF65-F5344CB8AC3E}">
        <p14:creationId xmlns:p14="http://schemas.microsoft.com/office/powerpoint/2010/main" val="248989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BCB70-C7B3-A1AA-BD74-987E4D14E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BAC307-835A-7756-3D98-21E4BA3A5D69}"/>
              </a:ext>
            </a:extLst>
          </p:cNvPr>
          <p:cNvSpPr txBox="1"/>
          <p:nvPr/>
        </p:nvSpPr>
        <p:spPr>
          <a:xfrm>
            <a:off x="5029200" y="52064"/>
            <a:ext cx="2133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A422C-6C66-63B8-3BF1-5F880CBD7240}"/>
              </a:ext>
            </a:extLst>
          </p:cNvPr>
          <p:cNvSpPr txBox="1"/>
          <p:nvPr/>
        </p:nvSpPr>
        <p:spPr>
          <a:xfrm>
            <a:off x="1235710" y="1149131"/>
            <a:ext cx="97205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привабливої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орієнтованої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салонів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System», яка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D9FFEE-A8CC-00B7-A9BA-AB2993D01272}"/>
              </a:ext>
            </a:extLst>
          </p:cNvPr>
          <p:cNvSpPr txBox="1"/>
          <p:nvPr/>
        </p:nvSpPr>
        <p:spPr>
          <a:xfrm>
            <a:off x="1235710" y="2481492"/>
            <a:ext cx="9720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фотографіями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Формування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щодо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догляду;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мета: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високоякісний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користуваціький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адаптивного та максимально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простого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План догляду</a:t>
            </a:r>
          </a:p>
          <a:p>
            <a:pPr algn="just"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└→ 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3187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9829A-CCE9-41EE-033A-427A7C44C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2B390E-A294-9ACC-EA29-AC6B50893950}"/>
              </a:ext>
            </a:extLst>
          </p:cNvPr>
          <p:cNvSpPr txBox="1"/>
          <p:nvPr/>
        </p:nvSpPr>
        <p:spPr>
          <a:xfrm>
            <a:off x="4409383" y="207674"/>
            <a:ext cx="33732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Актуальність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1CEFB4-CCE8-DAD8-D958-9817DBB7BEBB}"/>
              </a:ext>
            </a:extLst>
          </p:cNvPr>
          <p:cNvSpPr txBox="1"/>
          <p:nvPr/>
        </p:nvSpPr>
        <p:spPr>
          <a:xfrm>
            <a:off x="1027216" y="1728570"/>
            <a:ext cx="443543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роблема: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CRM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Дорогі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аналоги ($15-60/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трекінгу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укр.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локалізації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0AF27D-90A8-04C6-9BDD-D8A8DA0CD115}"/>
              </a:ext>
            </a:extLst>
          </p:cNvPr>
          <p:cNvSpPr txBox="1"/>
          <p:nvPr/>
        </p:nvSpPr>
        <p:spPr>
          <a:xfrm>
            <a:off x="5453305" y="1806470"/>
            <a:ext cx="6738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Статистика:</a:t>
            </a:r>
          </a:p>
          <a:p>
            <a:pPr lvl="0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73%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косметологів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хочуть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81%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закладів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зацікавлені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AI</a:t>
            </a:r>
          </a:p>
          <a:p>
            <a:pPr lvl="0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Ринок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beauty-послуг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зростає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12-15%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щорічно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FAB98-B811-D77B-A084-28E649A0FD83}"/>
              </a:ext>
            </a:extLst>
          </p:cNvPr>
          <p:cNvSpPr txBox="1"/>
          <p:nvPr/>
        </p:nvSpPr>
        <p:spPr>
          <a:xfrm>
            <a:off x="2270659" y="4466139"/>
            <a:ext cx="76506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Рішення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потрібна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доступна 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україномовна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з AI-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аналізом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60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90F85-736E-14D9-E6A5-83F00429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B07D7B-7B29-CE79-E0CB-64A656AAFDDA}"/>
              </a:ext>
            </a:extLst>
          </p:cNvPr>
          <p:cNvSpPr txBox="1"/>
          <p:nvPr/>
        </p:nvSpPr>
        <p:spPr>
          <a:xfrm>
            <a:off x="2675159" y="243299"/>
            <a:ext cx="68416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існуючих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рішень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E5E5A-7201-E287-BA20-5A44B5323BE8}"/>
              </a:ext>
            </a:extLst>
          </p:cNvPr>
          <p:cNvSpPr txBox="1"/>
          <p:nvPr/>
        </p:nvSpPr>
        <p:spPr>
          <a:xfrm>
            <a:off x="1295205" y="1166628"/>
            <a:ext cx="9601588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Недоліки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вартість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підписки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15 до 60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доларів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місяць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AED5E82-9FB5-F2DD-3607-1C76BBBC1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289860"/>
              </p:ext>
            </p:extLst>
          </p:nvPr>
        </p:nvGraphicFramePr>
        <p:xfrm>
          <a:off x="1128293" y="3167176"/>
          <a:ext cx="9935412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853">
                  <a:extLst>
                    <a:ext uri="{9D8B030D-6E8A-4147-A177-3AD203B41FA5}">
                      <a16:colId xmlns:a16="http://schemas.microsoft.com/office/drawing/2014/main" val="3048103893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2767101035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3125133096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1789771378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Порівняльна таблиця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66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Критерій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YCLIENTS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SkinVision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Наша система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84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CRM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30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АІ –аналіз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(родимки)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 (</a:t>
                      </a:r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шкіра+волосся</a:t>
                      </a:r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528289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Трекер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5630853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Вартість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Висока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Середня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Низька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101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Локалізація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26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098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5D33-6D2A-920E-1145-AB9C3BF28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CA1449-51A1-AEED-17D3-034CF86695F2}"/>
              </a:ext>
            </a:extLst>
          </p:cNvPr>
          <p:cNvSpPr txBox="1"/>
          <p:nvPr/>
        </p:nvSpPr>
        <p:spPr>
          <a:xfrm>
            <a:off x="3327742" y="290800"/>
            <a:ext cx="5536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задачі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05287-B535-7A13-5D1D-2A2AAD2282C8}"/>
              </a:ext>
            </a:extLst>
          </p:cNvPr>
          <p:cNvSpPr txBox="1"/>
          <p:nvPr/>
        </p:nvSpPr>
        <p:spPr>
          <a:xfrm>
            <a:off x="1223955" y="952595"/>
            <a:ext cx="974409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сформульовано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необхідно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вирішити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Автентифікація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JPG/PNG, до 10 МБ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тип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(акне/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зморшки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стан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- 3-5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 догляду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плану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Трекер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фото «до/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нотатки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історія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342900" algn="just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Створювана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отримала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назву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System». Вона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поєднує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собі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компоненти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🧠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Beauty Care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Tracker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👥 CRM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951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F2DA5-825E-70B8-A6E2-62AB906B9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02FEE1-79B7-1173-984D-25A8F21A5FC2}"/>
              </a:ext>
            </a:extLst>
          </p:cNvPr>
          <p:cNvSpPr txBox="1"/>
          <p:nvPr/>
        </p:nvSpPr>
        <p:spPr>
          <a:xfrm>
            <a:off x="3934927" y="219549"/>
            <a:ext cx="4322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Вибір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915EC-56EF-F381-D1F3-6BEFCCBFA8E1}"/>
              </a:ext>
            </a:extLst>
          </p:cNvPr>
          <p:cNvSpPr txBox="1"/>
          <p:nvPr/>
        </p:nvSpPr>
        <p:spPr>
          <a:xfrm>
            <a:off x="544284" y="1009651"/>
            <a:ext cx="11103429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бакенду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🐍 Python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легка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файлова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окремого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сервера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Werkzeug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📄 HTML5            →   Структура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сторінок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🎨 CSS3  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використанням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Flexbox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Grid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📜 JavaScript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Vanilla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→  без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інтерактивності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AI/ML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Найпопулярніший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фреймворк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відкритим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кодом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→   Робота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масивами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🖼️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Pillow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Обробка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dirty="0"/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стек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робить систему доступною для будь-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салону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26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A3182-804B-6219-1CF5-8C5D850F9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89CE73-F120-244F-664F-6EDE66599FEB}"/>
              </a:ext>
            </a:extLst>
          </p:cNvPr>
          <p:cNvSpPr txBox="1"/>
          <p:nvPr/>
        </p:nvSpPr>
        <p:spPr>
          <a:xfrm>
            <a:off x="3571110" y="0"/>
            <a:ext cx="50497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методи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18F66F-63E0-E412-658F-BBC64A758E4A}"/>
              </a:ext>
            </a:extLst>
          </p:cNvPr>
          <p:cNvSpPr txBox="1"/>
          <p:nvPr/>
        </p:nvSpPr>
        <p:spPr>
          <a:xfrm>
            <a:off x="696620" y="1272607"/>
            <a:ext cx="518341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80AC0B-4162-21DB-B3E2-DA69725D426D}"/>
              </a:ext>
            </a:extLst>
          </p:cNvPr>
          <p:cNvSpPr txBox="1"/>
          <p:nvPr/>
        </p:nvSpPr>
        <p:spPr>
          <a:xfrm>
            <a:off x="7622190" y="1178088"/>
            <a:ext cx="38731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динамічної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валідації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105530-9260-CE01-8507-86D40012F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506" y="1614162"/>
            <a:ext cx="1860550" cy="49784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DF0C664-FBB2-7632-5D11-DDD78C006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8785" y="2234708"/>
            <a:ext cx="1710055" cy="36385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20E9EA-69D0-F078-2BE3-386998144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380" y="2232879"/>
            <a:ext cx="1959610" cy="351663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5506491-F2C9-1AE0-0F6F-8A42CDB46B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550" y="1731205"/>
            <a:ext cx="1941830" cy="43465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9A3FED-5CAC-0C84-B16B-1370BC7AAD35}"/>
              </a:ext>
            </a:extLst>
          </p:cNvPr>
          <p:cNvSpPr txBox="1"/>
          <p:nvPr/>
        </p:nvSpPr>
        <p:spPr>
          <a:xfrm>
            <a:off x="4705814" y="755544"/>
            <a:ext cx="2780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Діаграми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активностей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052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D4629-1313-0B29-1642-757C8A1F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67115A9-B77C-CDAC-7D67-F8DD9DC8C78F}"/>
              </a:ext>
            </a:extLst>
          </p:cNvPr>
          <p:cNvSpPr txBox="1"/>
          <p:nvPr/>
        </p:nvSpPr>
        <p:spPr>
          <a:xfrm>
            <a:off x="2082722" y="219548"/>
            <a:ext cx="8026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28A9B1-696B-C974-C5AA-B2AE4AEDE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336" y="1043306"/>
            <a:ext cx="6341327" cy="47713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E503BE-84F6-2621-7008-6F9ACC8FB14E}"/>
              </a:ext>
            </a:extLst>
          </p:cNvPr>
          <p:cNvSpPr txBox="1"/>
          <p:nvPr/>
        </p:nvSpPr>
        <p:spPr>
          <a:xfrm>
            <a:off x="621475" y="5842337"/>
            <a:ext cx="109490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Запропонована архітектура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є сучасною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трирівневою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веб-системою з чітким розподілом на клієнтську частину, серверну логіку шар доступу до даних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421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2399-B903-AA59-4681-E9CBB7ACC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CA09B3-0B06-DBFA-CEA7-7324AB30FBFC}"/>
              </a:ext>
            </a:extLst>
          </p:cNvPr>
          <p:cNvSpPr txBox="1"/>
          <p:nvPr/>
        </p:nvSpPr>
        <p:spPr>
          <a:xfrm>
            <a:off x="3819575" y="0"/>
            <a:ext cx="45528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БД (ER-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8C708A-E446-AC69-D340-B4EE28ECD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80" y="656568"/>
            <a:ext cx="7742712" cy="5544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A97E5F-0937-8E68-F438-69ABB54DE1B6}"/>
              </a:ext>
            </a:extLst>
          </p:cNvPr>
          <p:cNvSpPr txBox="1"/>
          <p:nvPr/>
        </p:nvSpPr>
        <p:spPr>
          <a:xfrm>
            <a:off x="7944592" y="1600229"/>
            <a:ext cx="404552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інформацію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користувачів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photos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інформацію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завантажені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skin_analysis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</a:t>
            </a: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procedures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довідник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косметичних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routine_procedures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зв'язувальна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між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планами догляду та процедурами;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progress_photos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«до» та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951527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4E710-38A3-C750-5A94-ACD50BEC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282D71-AF27-1D37-9ED1-70790F329EF9}"/>
              </a:ext>
            </a:extLst>
          </p:cNvPr>
          <p:cNvSpPr txBox="1"/>
          <p:nvPr/>
        </p:nvSpPr>
        <p:spPr>
          <a:xfrm>
            <a:off x="4308876" y="9068"/>
            <a:ext cx="35742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 прецедентів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CC350C4-5929-2729-B2E8-CB2BCA11A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709" y="531887"/>
            <a:ext cx="6488582" cy="4013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AB654A-2D0E-B143-6D30-65CA228680BA}"/>
              </a:ext>
            </a:extLst>
          </p:cNvPr>
          <p:cNvSpPr txBox="1"/>
          <p:nvPr/>
        </p:nvSpPr>
        <p:spPr>
          <a:xfrm>
            <a:off x="1461267" y="4545274"/>
            <a:ext cx="103162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Клієнт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має доступ до наступних функцій: реєстрація в системі, вхід в обліковий запис, перегляд панелі управління, завантаження фотографії для аналізу, проведення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-аналізу, отримання персоналізованих рекомендацій, автоматичне створення плану догляду, перегляд створених планів, додавання фотографій «до/після» для відстеження прогресу, перегляд історії прогресу.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471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89B4E-BC5E-A8BE-FDB6-17A21148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29C58-0986-2D26-D720-7A83224518D8}"/>
              </a:ext>
            </a:extLst>
          </p:cNvPr>
          <p:cNvSpPr txBox="1"/>
          <p:nvPr/>
        </p:nvSpPr>
        <p:spPr>
          <a:xfrm>
            <a:off x="3856636" y="96644"/>
            <a:ext cx="44783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-діаграма компонентів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2ED2ED-5F88-E4C9-727A-0CA904020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80" y="248565"/>
            <a:ext cx="3552956" cy="372984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5D70E8-920F-A1DD-75E1-99143B802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01" y="3978411"/>
            <a:ext cx="3552956" cy="26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132BF9-798A-2B4D-9016-27291C136995}"/>
              </a:ext>
            </a:extLst>
          </p:cNvPr>
          <p:cNvSpPr txBox="1"/>
          <p:nvPr/>
        </p:nvSpPr>
        <p:spPr>
          <a:xfrm>
            <a:off x="5116765" y="1582340"/>
            <a:ext cx="6436426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верхньому рівні діаграми розташовано веб -браузер клієнта, який завантажує HTML-сторінки, CSS-стилі та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-код.</a:t>
            </a:r>
          </a:p>
          <a:p>
            <a:endParaRPr lang="uk-U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Нижче розташований серверний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бекенд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-API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Routers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обробляють HTTP -запити 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Services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містять бізнес -логіку 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	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забезпечує взаємодію з базою даних</a:t>
            </a:r>
          </a:p>
          <a:p>
            <a:endParaRPr lang="uk-U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нижньому рівні знаходиться база даних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зберігає всі дані системи.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0983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EC2A-462C-47EC-DEEB-08C03687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8F6F31-4D10-A27C-756A-D825FE80649B}"/>
              </a:ext>
            </a:extLst>
          </p:cNvPr>
          <p:cNvSpPr txBox="1"/>
          <p:nvPr/>
        </p:nvSpPr>
        <p:spPr>
          <a:xfrm>
            <a:off x="4690006" y="160172"/>
            <a:ext cx="28119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49F22-2BE1-4D66-DD23-AE187E99225B}"/>
              </a:ext>
            </a:extLst>
          </p:cNvPr>
          <p:cNvSpPr txBox="1"/>
          <p:nvPr/>
        </p:nvSpPr>
        <p:spPr>
          <a:xfrm>
            <a:off x="952992" y="1141027"/>
            <a:ext cx="1028601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вивчення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потреб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цільової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аудиторії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Проетування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UML-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ER-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ендпоінти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макети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UI/UX дизайну 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main.py – точка входу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auth.py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analysis.py –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фото, ai_analyzer.py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tracker.py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models.py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виявлено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усунено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помилки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34B6E9-CD4E-9EA2-1796-52D5E705F51F}"/>
              </a:ext>
            </a:extLst>
          </p:cNvPr>
          <p:cNvSpPr txBox="1"/>
          <p:nvPr/>
        </p:nvSpPr>
        <p:spPr>
          <a:xfrm>
            <a:off x="2755000" y="4085757"/>
            <a:ext cx="66819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Інтсрументи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💻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Інтегроване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середовище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🐙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версій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DB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перегляд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DevTools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Налагодження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364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EC14-A06E-B97E-C238-7EBC3429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4BA6E4-ADBB-E9C4-DE0A-570992C739B8}"/>
              </a:ext>
            </a:extLst>
          </p:cNvPr>
          <p:cNvSpPr txBox="1"/>
          <p:nvPr/>
        </p:nvSpPr>
        <p:spPr>
          <a:xfrm>
            <a:off x="4774965" y="350177"/>
            <a:ext cx="2642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61F857-9D82-FC77-1710-E6259D735BD6}"/>
              </a:ext>
            </a:extLst>
          </p:cNvPr>
          <p:cNvSpPr txBox="1"/>
          <p:nvPr/>
        </p:nvSpPr>
        <p:spPr>
          <a:xfrm>
            <a:off x="1081450" y="917912"/>
            <a:ext cx="100290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зручна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навігація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переходи,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стиль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естетичний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масштабуються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розміру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вікна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гаджету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оптимізація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Типогрфіка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шрифтом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Segoe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UI»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відображення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Лого, Головна,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Кабінет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АІ –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364354D-400E-4B56-86C6-81E12552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295" y="3651262"/>
            <a:ext cx="5967409" cy="303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865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526D-4058-86D7-939E-0FEC4A29A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B30AA-CE41-EA53-F629-F9C38AE1A84B}"/>
              </a:ext>
            </a:extLst>
          </p:cNvPr>
          <p:cNvSpPr txBox="1"/>
          <p:nvPr/>
        </p:nvSpPr>
        <p:spPr>
          <a:xfrm>
            <a:off x="4558015" y="302676"/>
            <a:ext cx="3075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Приклад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CAA86-241E-DD20-1B03-3B35F94C2815}"/>
              </a:ext>
            </a:extLst>
          </p:cNvPr>
          <p:cNvSpPr txBox="1"/>
          <p:nvPr/>
        </p:nvSpPr>
        <p:spPr>
          <a:xfrm>
            <a:off x="734609" y="1584342"/>
            <a:ext cx="53885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analyze_skin_and_hair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Image.open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io.BytesIO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cv2.cvtColor(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cv2.COLOR_RGB2BGR)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Виділення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області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інтересу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(ROI)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center_y-roi_size:center_y+roi_size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center_x-roi_size:center_x+roi_size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текстури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=(0, 1))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laplacian_var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cv2.Laplacian(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cv2.CV_64F).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Визначення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180: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"Суха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120: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"Нормальна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"Жирна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{"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...}</a:t>
            </a:r>
          </a:p>
          <a:p>
            <a:pPr latinLnBrk="1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11DCB-9C3B-BA19-5BB7-75CCA1493076}"/>
              </a:ext>
            </a:extLst>
          </p:cNvPr>
          <p:cNvSpPr txBox="1"/>
          <p:nvPr/>
        </p:nvSpPr>
        <p:spPr>
          <a:xfrm>
            <a:off x="734609" y="876456"/>
            <a:ext cx="52624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тексту нижче продемонстрована частина коду, призначена для АІ -аналізу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827AF9-05DA-00CD-37D5-4CC86020E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326" y="1915875"/>
            <a:ext cx="2948169" cy="302624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F5448D7-5DB1-BC01-0079-554745243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1210" y="1571558"/>
            <a:ext cx="2989294" cy="371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73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FE33-D82D-E049-6221-7C5A68C55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8A501-6735-50B4-2F7C-8F038653F220}"/>
              </a:ext>
            </a:extLst>
          </p:cNvPr>
          <p:cNvSpPr txBox="1"/>
          <p:nvPr/>
        </p:nvSpPr>
        <p:spPr>
          <a:xfrm>
            <a:off x="4259792" y="278925"/>
            <a:ext cx="36724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користувача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A8412-33E4-CA4A-6453-11E1701931E4}"/>
              </a:ext>
            </a:extLst>
          </p:cNvPr>
          <p:cNvSpPr txBox="1"/>
          <p:nvPr/>
        </p:nvSpPr>
        <p:spPr>
          <a:xfrm>
            <a:off x="1349488" y="617479"/>
            <a:ext cx="2386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Головна сторінка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B433E-CD95-2398-C355-11A40E5853EA}"/>
              </a:ext>
            </a:extLst>
          </p:cNvPr>
          <p:cNvSpPr txBox="1"/>
          <p:nvPr/>
        </p:nvSpPr>
        <p:spPr>
          <a:xfrm>
            <a:off x="8010068" y="1429848"/>
            <a:ext cx="336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реєстрації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E92D02-B0DF-B205-3363-C7703DB21687}"/>
              </a:ext>
            </a:extLst>
          </p:cNvPr>
          <p:cNvSpPr txBox="1"/>
          <p:nvPr/>
        </p:nvSpPr>
        <p:spPr>
          <a:xfrm>
            <a:off x="991759" y="3553002"/>
            <a:ext cx="3408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«Мій кабінет»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4FF3933-0691-2D5B-E7B3-717005CA7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40" y="1094068"/>
            <a:ext cx="4624258" cy="238245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606786D-C77A-F2FC-0C81-ADCF1A37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919" y="1882843"/>
            <a:ext cx="5126951" cy="318735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D094AA5-2AD5-EB7E-D3F1-AC5DF59B6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03" y="4106071"/>
            <a:ext cx="2108932" cy="24888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4FC1461-86F2-E250-45B8-6EB36B82C68B}"/>
              </a:ext>
            </a:extLst>
          </p:cNvPr>
          <p:cNvSpPr txBox="1"/>
          <p:nvPr/>
        </p:nvSpPr>
        <p:spPr>
          <a:xfrm>
            <a:off x="3873433" y="3893001"/>
            <a:ext cx="2631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входу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BB13383-C371-A281-493C-E60CA51830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433" y="4378668"/>
            <a:ext cx="2269130" cy="1807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5621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19A15-3BBB-7DED-04AA-3CE2A3020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096A19-F0CE-8CDF-3DEF-31994071A828}"/>
              </a:ext>
            </a:extLst>
          </p:cNvPr>
          <p:cNvSpPr txBox="1"/>
          <p:nvPr/>
        </p:nvSpPr>
        <p:spPr>
          <a:xfrm>
            <a:off x="5259879" y="109580"/>
            <a:ext cx="16499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E98D6-C6F1-5E46-5993-B4F3EF3551FE}"/>
              </a:ext>
            </a:extLst>
          </p:cNvPr>
          <p:cNvSpPr txBox="1"/>
          <p:nvPr/>
        </p:nvSpPr>
        <p:spPr>
          <a:xfrm>
            <a:off x="594731" y="809024"/>
            <a:ext cx="1098023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Підсумовуючи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роботу, хочу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По-перше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повнофункціональну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веб-систему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	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По-друге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По-третє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автоматичного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догляду.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По-четверте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По-п'яте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пристрої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вона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–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містить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трекер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візуалізацією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та є легкою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розгортанні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Подальший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розвиток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плануємо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вдосконалити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-модуль,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замінивши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евристичні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правила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згорткову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нейронну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мережу,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мобільний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розгорнути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систему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хмарі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онлайн-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запису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майстрів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0031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55243-17BD-E339-2935-E7699FD71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9C4346-AAAF-575B-6337-B391A2C77545}"/>
              </a:ext>
            </a:extLst>
          </p:cNvPr>
          <p:cNvSpPr txBox="1"/>
          <p:nvPr/>
        </p:nvSpPr>
        <p:spPr>
          <a:xfrm>
            <a:off x="4770156" y="3048444"/>
            <a:ext cx="2651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Дякую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увагу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23093672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58</TotalTime>
  <Words>1334</Words>
  <Application>Microsoft Office PowerPoint</Application>
  <PresentationFormat>Широкоэкранный</PresentationFormat>
  <Paragraphs>171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Century Gothic</vt:lpstr>
      <vt:lpstr>Times New Roman</vt:lpstr>
      <vt:lpstr>Wingdings 3</vt:lpstr>
      <vt:lpstr>Легкий дым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Шейко</dc:creator>
  <cp:lastModifiedBy>Андрей Шейко</cp:lastModifiedBy>
  <cp:revision>16</cp:revision>
  <dcterms:created xsi:type="dcterms:W3CDTF">2026-06-08T17:39:17Z</dcterms:created>
  <dcterms:modified xsi:type="dcterms:W3CDTF">2026-06-10T06:41:25Z</dcterms:modified>
</cp:coreProperties>
</file>