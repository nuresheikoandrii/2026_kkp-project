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1" r:id="rId10"/>
    <p:sldId id="263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ED7D18-5637-EC9F-B01E-CDFAE66FEA5C}"/>
              </a:ext>
            </a:extLst>
          </p:cNvPr>
          <p:cNvSpPr txBox="1"/>
          <p:nvPr/>
        </p:nvSpPr>
        <p:spPr>
          <a:xfrm>
            <a:off x="3916139" y="1193325"/>
            <a:ext cx="437283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 система для автоматизації </a:t>
            </a:r>
          </a:p>
          <a:p>
            <a:pPr algn="ctr"/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 салонів краси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720E8-D7B5-3CB1-335C-7BBDDB50B5CC}"/>
              </a:ext>
            </a:extLst>
          </p:cNvPr>
          <p:cNvSpPr txBox="1"/>
          <p:nvPr/>
        </p:nvSpPr>
        <p:spPr>
          <a:xfrm>
            <a:off x="3368988" y="4525903"/>
            <a:ext cx="54671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Ст.гр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ПЗПІ-23-7 Ш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ейко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Андрій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Олександрович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Ст.гр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ПЗПІ-23-7 Якубович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Кирило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Олексійович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доц. кафедри ПІ Ірина ЛЯЩИНСЬКА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червня 2026 року</a:t>
            </a:r>
          </a:p>
        </p:txBody>
      </p:sp>
    </p:spTree>
    <p:extLst>
      <p:ext uri="{BB962C8B-B14F-4D97-AF65-F5344CB8AC3E}">
        <p14:creationId xmlns:p14="http://schemas.microsoft.com/office/powerpoint/2010/main" val="4049279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2764-5B51-4FEA-87DD-CBAB116B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538CF6-6FDF-D073-352D-D5787B7E8C3B}"/>
              </a:ext>
            </a:extLst>
          </p:cNvPr>
          <p:cNvSpPr txBox="1"/>
          <p:nvPr/>
        </p:nvSpPr>
        <p:spPr>
          <a:xfrm>
            <a:off x="5029200" y="52064"/>
            <a:ext cx="21335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A7CF3-E101-E517-A0F8-7D6EDEC7442C}"/>
              </a:ext>
            </a:extLst>
          </p:cNvPr>
          <p:cNvSpPr txBox="1"/>
          <p:nvPr/>
        </p:nvSpPr>
        <p:spPr>
          <a:xfrm>
            <a:off x="1235710" y="1149131"/>
            <a:ext cx="9720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привабливої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орієнтованої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салонів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краси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«Beauty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System», яка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59F90-CAA6-2A29-5551-0FCFDDC47882}"/>
              </a:ext>
            </a:extLst>
          </p:cNvPr>
          <p:cNvSpPr txBox="1"/>
          <p:nvPr/>
        </p:nvSpPr>
        <p:spPr>
          <a:xfrm>
            <a:off x="1235710" y="2481492"/>
            <a:ext cx="972057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latinLnBrk="1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зовнішності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фотографіями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 algn="just" latinLnBrk="1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персоналізованих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щодо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догляду;</a:t>
            </a:r>
          </a:p>
          <a:p>
            <a:pPr marL="285750" indent="-285750" algn="just" latinLnBrk="1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індивідуальних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процедур;</a:t>
            </a:r>
          </a:p>
          <a:p>
            <a:pPr marL="285750" indent="-285750" algn="just" latinLnBrk="1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динаміки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(фото «до/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»),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дозволяє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об'єктивно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процедур</a:t>
            </a:r>
          </a:p>
          <a:p>
            <a:pPr marL="285750" indent="-285750" algn="just" latinLnBrk="1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мета: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високоякісний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користуваціький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досвід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допомогою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адаптивного та максимально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мінімалістичного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дизайну,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інтуїтивно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простого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План догляду</a:t>
            </a:r>
          </a:p>
          <a:p>
            <a:pPr algn="just" latinLnBrk="1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└→  Контроль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10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F3AC-94D1-8675-3A33-D593FD09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E76CD7-BE33-9817-5239-DB7D10D52B73}"/>
              </a:ext>
            </a:extLst>
          </p:cNvPr>
          <p:cNvSpPr txBox="1"/>
          <p:nvPr/>
        </p:nvSpPr>
        <p:spPr>
          <a:xfrm>
            <a:off x="4409383" y="207674"/>
            <a:ext cx="3373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52414D-A9B7-4927-E9BA-7093152CC1CE}"/>
              </a:ext>
            </a:extLst>
          </p:cNvPr>
          <p:cNvSpPr txBox="1"/>
          <p:nvPr/>
        </p:nvSpPr>
        <p:spPr>
          <a:xfrm>
            <a:off x="1039089" y="921540"/>
            <a:ext cx="994756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-перше,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серйозна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проблема на ринку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салонів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краси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Більшість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існуючих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-систем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вирішують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лише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адміністративні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облік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матеріалів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фінансову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звітність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Але вони абсолютно не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допомагають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персоналізованим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підбором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процедур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реального стану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-друге, статистика:</a:t>
            </a: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73%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косметологів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хочуть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автоматизований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81%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закладів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зацікавлені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впровадженні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–систем</a:t>
            </a:r>
          </a:p>
          <a:p>
            <a:pPr algn="just" latinLnBrk="1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третє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ринок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послуг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зростає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12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щорічно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створює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додатковий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попит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інноваційні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latinLnBrk="1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Таким чином, 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очевидний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нагальна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потреба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україномовній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функцією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зовнішності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latinLnBrk="1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latinLnBrk="1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15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D4590-9720-FE82-3AFC-3723C0475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AB2D27-61F9-05F5-27D9-163D3A36E69C}"/>
              </a:ext>
            </a:extLst>
          </p:cNvPr>
          <p:cNvSpPr txBox="1"/>
          <p:nvPr/>
        </p:nvSpPr>
        <p:spPr>
          <a:xfrm>
            <a:off x="2675159" y="243299"/>
            <a:ext cx="6841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існуючих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рішень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7058E-F794-8998-FCB1-E6C278AE927B}"/>
              </a:ext>
            </a:extLst>
          </p:cNvPr>
          <p:cNvSpPr txBox="1"/>
          <p:nvPr/>
        </p:nvSpPr>
        <p:spPr>
          <a:xfrm>
            <a:off x="1295205" y="917144"/>
            <a:ext cx="960158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існуючі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вартість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підписки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 до 60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доларів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місяць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локалізації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Дивлячись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зробити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потрібен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простий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інтуїтивно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тому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недоліки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вирішили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усунути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своїй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розробці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973B8EC-65C6-7395-02A9-C50AB9AC4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542841"/>
              </p:ext>
            </p:extLst>
          </p:nvPr>
        </p:nvGraphicFramePr>
        <p:xfrm>
          <a:off x="1128293" y="3603514"/>
          <a:ext cx="993541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853">
                  <a:extLst>
                    <a:ext uri="{9D8B030D-6E8A-4147-A177-3AD203B41FA5}">
                      <a16:colId xmlns:a16="http://schemas.microsoft.com/office/drawing/2014/main" val="3048103893"/>
                    </a:ext>
                  </a:extLst>
                </a:gridCol>
                <a:gridCol w="2483853">
                  <a:extLst>
                    <a:ext uri="{9D8B030D-6E8A-4147-A177-3AD203B41FA5}">
                      <a16:colId xmlns:a16="http://schemas.microsoft.com/office/drawing/2014/main" val="2767101035"/>
                    </a:ext>
                  </a:extLst>
                </a:gridCol>
                <a:gridCol w="2483853">
                  <a:extLst>
                    <a:ext uri="{9D8B030D-6E8A-4147-A177-3AD203B41FA5}">
                      <a16:colId xmlns:a16="http://schemas.microsoft.com/office/drawing/2014/main" val="3125133096"/>
                    </a:ext>
                  </a:extLst>
                </a:gridCol>
                <a:gridCol w="2483853">
                  <a:extLst>
                    <a:ext uri="{9D8B030D-6E8A-4147-A177-3AD203B41FA5}">
                      <a16:colId xmlns:a16="http://schemas.microsoft.com/office/drawing/2014/main" val="1789771378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Порівняльна таблиця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66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Критерій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YCLIENTS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SkinVision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Наша система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84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CRM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+++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+++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303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АІ –аналіз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(родимки)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 (</a:t>
                      </a:r>
                      <a:r>
                        <a:rPr lang="uk-UA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шкіра+волосся</a:t>
                      </a:r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28289"/>
                  </a:ext>
                </a:extLst>
              </a:tr>
              <a:tr h="373919">
                <a:tc>
                  <a:txBody>
                    <a:bodyPr/>
                    <a:lstStyle/>
                    <a:p>
                      <a:r>
                        <a:rPr lang="uk-UA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Трекер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+++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630853"/>
                  </a:ext>
                </a:extLst>
              </a:tr>
              <a:tr h="373919"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Вартість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Висока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Середня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Низька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10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Локалізація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926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231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8E8F-61B8-E9C4-2F10-F8044824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70CFE4-0450-408F-76C5-08CF98B5978A}"/>
              </a:ext>
            </a:extLst>
          </p:cNvPr>
          <p:cNvSpPr txBox="1"/>
          <p:nvPr/>
        </p:nvSpPr>
        <p:spPr>
          <a:xfrm>
            <a:off x="3327742" y="290800"/>
            <a:ext cx="5536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задачі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47E43-EB93-9F6A-DC1E-23B29445B1F9}"/>
              </a:ext>
            </a:extLst>
          </p:cNvPr>
          <p:cNvSpPr txBox="1"/>
          <p:nvPr/>
        </p:nvSpPr>
        <p:spPr>
          <a:xfrm>
            <a:off x="1223955" y="952595"/>
            <a:ext cx="974409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було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сформульовано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задач,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необхідно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вирішити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безпечним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паролів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-модуля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фотографією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модуля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персоналізованих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індивідуальних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прив'язкою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процедур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«до» та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нотаток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Опис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Створювана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отримала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назву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«Beauty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System». Вона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поєднує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собі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AI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зовнішності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Beauty Care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Tracker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👥 CRM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18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4542-54A7-1217-61DB-5690BE2A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7E8CB3-7CC0-AD90-B3A3-902E04BE3A2F}"/>
              </a:ext>
            </a:extLst>
          </p:cNvPr>
          <p:cNvSpPr txBox="1"/>
          <p:nvPr/>
        </p:nvSpPr>
        <p:spPr>
          <a:xfrm>
            <a:off x="3934927" y="219549"/>
            <a:ext cx="4322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Вибір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технологій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06127-3D99-312D-5C87-01E06F344431}"/>
              </a:ext>
            </a:extLst>
          </p:cNvPr>
          <p:cNvSpPr txBox="1"/>
          <p:nvPr/>
        </p:nvSpPr>
        <p:spPr>
          <a:xfrm>
            <a:off x="510639" y="797510"/>
            <a:ext cx="1110342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бакенду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було використано: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🐍 Python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швидкодію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вбудовану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підтримку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асинхронності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🗄️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легка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файлова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яка не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окремого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сервера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🔐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Werkzeug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→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Хешування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паролів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фронтенду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було використано: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HTML5            →   Структура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сторінок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🎨 CSS3             →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дизайн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використанням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Grid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📜 JavaScript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Vanilla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 без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інтерактивності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підхід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зайвих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залежностей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AI/ML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було використано: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→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Найпопулярніший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фреймворк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відкритим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кодом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🔢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→   Робота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масивами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🖼️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Pillow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→  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/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стек 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безкоштовним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робить систему доступною для будь-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салону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краси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30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7E59-0493-6E52-7F7F-D823D6E7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3FE8FC-8F34-749A-60E0-2021FEE9AF52}"/>
              </a:ext>
            </a:extLst>
          </p:cNvPr>
          <p:cNvSpPr txBox="1"/>
          <p:nvPr/>
        </p:nvSpPr>
        <p:spPr>
          <a:xfrm>
            <a:off x="3571110" y="0"/>
            <a:ext cx="5049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E68B47-87A7-F97F-9E37-6916470BA647}"/>
              </a:ext>
            </a:extLst>
          </p:cNvPr>
          <p:cNvSpPr txBox="1"/>
          <p:nvPr/>
        </p:nvSpPr>
        <p:spPr>
          <a:xfrm>
            <a:off x="817418" y="523220"/>
            <a:ext cx="1055716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типу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Вхідними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користувачем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Першим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кроком 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конвертуємо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формат,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зрозумілий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Далі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виділяємо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область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інтересу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ROI.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центральна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розміром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приблизно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одна третина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ширини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високою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ймовірністю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знаходиться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обличчя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виділення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ROI 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середнє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яскравості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пікселів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цього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визначаємо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пороговими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яскравість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вище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180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суха,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вище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120 – нормальна,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нижче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жирна.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Виявлення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проблем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цього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перетворюємо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ROI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відтінки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сірого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застосовуємо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оператор Лапласа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виділення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і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дисперсію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отриманого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Мала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дисперсія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менше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свідчить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наявність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акне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нерівностей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Велика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дисперсія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більше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500) – про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зморшки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сухість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Проміжні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вказують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хороший стан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Ми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виділяємо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верхню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третину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найчастіше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знаходиться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колір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світле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яскравість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&gt;150), русе (&gt;80),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(≤80).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оцінки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стану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обчислюємо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варіацію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яскравості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варіація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менше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1000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пошкоджене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відновлення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898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3959-B414-2A1E-ECCB-6E9247B6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6E70F6-BE26-5107-FE9C-DDAB7D150EB6}"/>
              </a:ext>
            </a:extLst>
          </p:cNvPr>
          <p:cNvSpPr txBox="1"/>
          <p:nvPr/>
        </p:nvSpPr>
        <p:spPr>
          <a:xfrm>
            <a:off x="2082722" y="219548"/>
            <a:ext cx="8026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забезпечення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E7157-5BA4-24B4-74F3-EA5AB380FEA5}"/>
              </a:ext>
            </a:extLst>
          </p:cNvPr>
          <p:cNvSpPr txBox="1"/>
          <p:nvPr/>
        </p:nvSpPr>
        <p:spPr>
          <a:xfrm>
            <a:off x="1179616" y="764024"/>
            <a:ext cx="9832768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трирівневою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моделлю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-сервер»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Верхній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клієнтська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яка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працює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Вона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CSS-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стилі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JavaScript-код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інтерактивності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авторизаційного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токену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сервер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складається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трьох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підрівнів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Перший – API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Routers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обробляють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маршрутизують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їх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обробники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Другий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Services Layer, де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міститься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бізнес-логіка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Третій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Access Layer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об'єктно-реляційне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Нижній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рівень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база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файл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beauty_salon.db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зберігаються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 та записи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Така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легкість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97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00C9-F4E3-4DBB-9E60-BD93B881F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999ED-A093-90F2-DB22-D30FD555F0F9}"/>
              </a:ext>
            </a:extLst>
          </p:cNvPr>
          <p:cNvSpPr txBox="1"/>
          <p:nvPr/>
        </p:nvSpPr>
        <p:spPr>
          <a:xfrm>
            <a:off x="3819575" y="0"/>
            <a:ext cx="4552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БД (ER-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717A1A-10E7-38A6-1963-06A1D9950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0" y="656568"/>
            <a:ext cx="7742712" cy="55448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30A304-8030-C7A0-DAE3-10D41D1DE8D7}"/>
              </a:ext>
            </a:extLst>
          </p:cNvPr>
          <p:cNvSpPr txBox="1"/>
          <p:nvPr/>
        </p:nvSpPr>
        <p:spPr>
          <a:xfrm>
            <a:off x="7944592" y="656568"/>
            <a:ext cx="40455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База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photos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skin_analysis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routines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procedures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довідник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косметичних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процедур;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routine_procedures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зв'язувальна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між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планами догляду та процедурами;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progress_photos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фотографії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«до» та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31908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3B2C4-84DB-C667-3B9A-2D528814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5D4D88-9018-CE4D-3502-E95621537AC8}"/>
              </a:ext>
            </a:extLst>
          </p:cNvPr>
          <p:cNvSpPr txBox="1"/>
          <p:nvPr/>
        </p:nvSpPr>
        <p:spPr>
          <a:xfrm>
            <a:off x="4690006" y="160172"/>
            <a:ext cx="2811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9BE9FD-B0D9-FA87-CD99-869C34B2419E}"/>
              </a:ext>
            </a:extLst>
          </p:cNvPr>
          <p:cNvSpPr txBox="1"/>
          <p:nvPr/>
        </p:nvSpPr>
        <p:spPr>
          <a:xfrm>
            <a:off x="952993" y="795646"/>
            <a:ext cx="1028601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ЕТАПИ РОЗРОБКИ: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вивчення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цільової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ічнуючих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нефункціональні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Проетування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створено UML-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спроєктовано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(ER-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ендпоінти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макети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UI/UX дизайну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main.py – точка входу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auth.py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реєстрація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вхід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analysis.py – AI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фото, ai_analyzer.py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логіка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tracker.py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models.py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Етап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проведено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функціональне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інтеграційне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UI-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виявлено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усунено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критичні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помилки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BE315-F4E4-03F7-CF70-0EFC6729F15B}"/>
              </a:ext>
            </a:extLst>
          </p:cNvPr>
          <p:cNvSpPr txBox="1"/>
          <p:nvPr/>
        </p:nvSpPr>
        <p:spPr>
          <a:xfrm>
            <a:off x="1233052" y="4431138"/>
            <a:ext cx="97258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Інтсрументи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Інтегроване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середовище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🐙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Контроль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версій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🗄️ DB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перегляд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DevTools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Налагодження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507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5157-E155-E1E0-90FF-28E971A0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E3A7E0-C4A8-FFBE-0AF9-9C812B2BDB34}"/>
              </a:ext>
            </a:extLst>
          </p:cNvPr>
          <p:cNvSpPr txBox="1"/>
          <p:nvPr/>
        </p:nvSpPr>
        <p:spPr>
          <a:xfrm>
            <a:off x="4774965" y="350177"/>
            <a:ext cx="26420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F756D-65E0-6D98-7710-0563B7834C97}"/>
              </a:ext>
            </a:extLst>
          </p:cNvPr>
          <p:cNvSpPr txBox="1"/>
          <p:nvPr/>
        </p:nvSpPr>
        <p:spPr>
          <a:xfrm>
            <a:off x="1081450" y="917912"/>
            <a:ext cx="100290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Користувацький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досвід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зручна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навігація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переходи,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інтуїтивний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дизайн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Візуальний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стиль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естетичний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мінімалістичний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сучаснийт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кольорова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схема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побудована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фіолетово-синьому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градієнті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кольору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#667eea до #764ba2.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кольори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асоціюються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технологічністю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спокоєм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елегантністю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фон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карток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контрастність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читабельність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тексту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Адаптивність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коректно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масштабуються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зміні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розміру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вікна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або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перегляді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пристрою. Для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цього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використовуються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медіа-запити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CSS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Швидкодія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кешування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Типогрфіка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шрифтом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Segoe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UI»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шрифт,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гарантовано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пристроях,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швидке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коректне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відображення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розміри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текст 14px, заголовки 24 - 32px</a:t>
            </a: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Лого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Кабінет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АІ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3FB9F27-E3F3-9857-4A9B-EF7372BB5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320" y="4514455"/>
            <a:ext cx="3925229" cy="199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7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5EDE-8320-3119-DBFC-90D23BD7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227AFC-9017-77C4-077B-1265243D830E}"/>
              </a:ext>
            </a:extLst>
          </p:cNvPr>
          <p:cNvSpPr txBox="1"/>
          <p:nvPr/>
        </p:nvSpPr>
        <p:spPr>
          <a:xfrm>
            <a:off x="4558015" y="302676"/>
            <a:ext cx="3075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реалізації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95E65-1F43-8626-AAE0-3A43C09E81A0}"/>
              </a:ext>
            </a:extLst>
          </p:cNvPr>
          <p:cNvSpPr txBox="1"/>
          <p:nvPr/>
        </p:nvSpPr>
        <p:spPr>
          <a:xfrm>
            <a:off x="734609" y="1584342"/>
            <a:ext cx="538859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analyze_skin_and_hair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image_bytes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io.BytesIO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image_bytes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cv2.cvtColor(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cv2.COLOR_RGB2BGR)</a:t>
            </a:r>
          </a:p>
          <a:p>
            <a:pPr latinLnBrk="1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Виділення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області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інтересу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(ROI)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center_y-roi_size:center_y+roi_size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center_x-roi_size:center_x+roi_size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atinLnBrk="1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кольору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текстури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avg_color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np.mean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=(0, 1))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np.mean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avg_color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laplacian_var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cv2.Laplacian(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cv2.CV_64F).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#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типу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180: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skin_type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"Суха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brightness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120: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skin_type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"Нормальна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skin_type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"Жирна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latinLnBrk="1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atinLnBrk="1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{"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skin_type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skin_type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...}</a:t>
            </a:r>
          </a:p>
          <a:p>
            <a:pPr latinLnBrk="1"/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520639-59DB-9651-C897-C1EA8C917725}"/>
              </a:ext>
            </a:extLst>
          </p:cNvPr>
          <p:cNvSpPr txBox="1"/>
          <p:nvPr/>
        </p:nvSpPr>
        <p:spPr>
          <a:xfrm>
            <a:off x="734609" y="876456"/>
            <a:ext cx="5262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тексту нижче продемонстрована частина коду, призначена для АІ -аналізу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F80FA7-8B03-9EBD-8E12-1133E7585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326" y="1915875"/>
            <a:ext cx="2948169" cy="30262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6616FD-CBCF-9FCA-B5C7-A05BDD091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210" y="1571558"/>
            <a:ext cx="2989294" cy="371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89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FF5E-0A63-01E0-CF3B-299B6A72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C8DD70-8E4D-53CA-2A87-EBBE1D597110}"/>
              </a:ext>
            </a:extLst>
          </p:cNvPr>
          <p:cNvSpPr txBox="1"/>
          <p:nvPr/>
        </p:nvSpPr>
        <p:spPr>
          <a:xfrm>
            <a:off x="4259792" y="278925"/>
            <a:ext cx="36724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11F661-364C-0E35-A6E7-CE429D472A75}"/>
              </a:ext>
            </a:extLst>
          </p:cNvPr>
          <p:cNvSpPr txBox="1"/>
          <p:nvPr/>
        </p:nvSpPr>
        <p:spPr>
          <a:xfrm>
            <a:off x="1093094" y="617479"/>
            <a:ext cx="2386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Головна сторінка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9ECCC-53D6-B904-3A02-24C2AFAB13D2}"/>
              </a:ext>
            </a:extLst>
          </p:cNvPr>
          <p:cNvSpPr txBox="1"/>
          <p:nvPr/>
        </p:nvSpPr>
        <p:spPr>
          <a:xfrm>
            <a:off x="8441665" y="705643"/>
            <a:ext cx="3362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 реєстрації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713C4-8854-19BC-735E-92E66FD6626C}"/>
              </a:ext>
            </a:extLst>
          </p:cNvPr>
          <p:cNvSpPr txBox="1"/>
          <p:nvPr/>
        </p:nvSpPr>
        <p:spPr>
          <a:xfrm>
            <a:off x="669360" y="3167815"/>
            <a:ext cx="3408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 «Мій кабінет»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2E28D-B8D1-650B-F295-D565A97DE580}"/>
              </a:ext>
            </a:extLst>
          </p:cNvPr>
          <p:cNvSpPr txBox="1"/>
          <p:nvPr/>
        </p:nvSpPr>
        <p:spPr>
          <a:xfrm>
            <a:off x="8617309" y="3600018"/>
            <a:ext cx="23869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 догляду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722725-AB3D-87EF-B544-2F0B0EBC2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2" y="1074975"/>
            <a:ext cx="3940097" cy="20299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E5A1F0-CFA5-7C25-1479-83E126A95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5" y="3600018"/>
            <a:ext cx="5126951" cy="31873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4EF0FE5-3D5E-4843-23DA-F4D0EBFD6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703" y="1128272"/>
            <a:ext cx="1974538" cy="233028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832C4A-FB9D-F597-B604-2C5645CEC0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463" y="4028885"/>
            <a:ext cx="3610535" cy="27584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D16DD86-D55C-FCC3-714D-4753C5624EB0}"/>
              </a:ext>
            </a:extLst>
          </p:cNvPr>
          <p:cNvSpPr txBox="1"/>
          <p:nvPr/>
        </p:nvSpPr>
        <p:spPr>
          <a:xfrm>
            <a:off x="5416017" y="986811"/>
            <a:ext cx="2631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Сторінка входу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172F4C8-BCC6-0D09-5405-480E97587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9540" y="1574973"/>
            <a:ext cx="2050204" cy="176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0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5E7A-7574-BF0F-60E4-03CD0707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04744-CC6C-3B5C-F47C-228C588C28E7}"/>
              </a:ext>
            </a:extLst>
          </p:cNvPr>
          <p:cNvSpPr txBox="1"/>
          <p:nvPr/>
        </p:nvSpPr>
        <p:spPr>
          <a:xfrm>
            <a:off x="5259879" y="109580"/>
            <a:ext cx="16499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Підсумки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D7DCD5-88B5-53E9-EB6B-75D972274678}"/>
              </a:ext>
            </a:extLst>
          </p:cNvPr>
          <p:cNvSpPr txBox="1"/>
          <p:nvPr/>
        </p:nvSpPr>
        <p:spPr>
          <a:xfrm>
            <a:off x="594731" y="618829"/>
            <a:ext cx="1098023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Підсумовуючи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роботу, хочу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відзначити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наступні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r>
              <a:rPr lang="uk-U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-перше, створено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повнофункціональну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веб-систему «Beauty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System», яка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вимогам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-друге,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унікальний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модуль AI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шкіри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волосся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CRM- системах.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третє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модуль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автоматичного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індивідуальних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догляду.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четверте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створено модуль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можливістю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завантаження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фото «до/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після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ведення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нотаток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п'яте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сучасні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типи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пристроїв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Переваги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 -перше, вона 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безкоштовною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оскільки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використовує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тільки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відкритим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кодом. По -друге,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локалізацію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третє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унікальний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якого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немає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аналогах. 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четверте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містить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трекер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візуалізацією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І по 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п'яте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є легкою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достатньо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встановити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залежності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Подальший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плануємо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вдосконалити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-модуль,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замінивши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евристичні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правила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згорткову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нейронну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мережу,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додаток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розгорнути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систему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хмарі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додати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онлайн-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запису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майстрів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3733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0B8E-6AC3-322B-FBEE-74CF6DBFA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EA1E09-BBD2-2A6E-60C4-7BAB8E8A8E3E}"/>
              </a:ext>
            </a:extLst>
          </p:cNvPr>
          <p:cNvSpPr txBox="1"/>
          <p:nvPr/>
        </p:nvSpPr>
        <p:spPr>
          <a:xfrm>
            <a:off x="4770156" y="3048444"/>
            <a:ext cx="26516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Дякую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увагу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89052951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{1D3913E3-9972-49BD-8111-1C105EE8119A}TF49310879-45c6-4d72-870a-c20bc0dca33226a4735b-72ede3746b71</Template>
  <TotalTime>181</TotalTime>
  <Words>1867</Words>
  <Application>Microsoft Office PowerPoint</Application>
  <PresentationFormat>Широкоэкранный</PresentationFormat>
  <Paragraphs>188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Times New Roman</vt:lpstr>
      <vt:lpstr>След самолета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Шейко</dc:creator>
  <cp:lastModifiedBy>Андрей Шейко</cp:lastModifiedBy>
  <cp:revision>45</cp:revision>
  <dcterms:created xsi:type="dcterms:W3CDTF">2026-05-31T15:48:17Z</dcterms:created>
  <dcterms:modified xsi:type="dcterms:W3CDTF">2026-06-07T08:22:16Z</dcterms:modified>
</cp:coreProperties>
</file>